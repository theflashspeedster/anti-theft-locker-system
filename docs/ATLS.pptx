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EB103B-D0E1-4A98-990B-4252149B87CB}">
  <a:tblStyle styleId="{BEEB103B-D0E1-4A98-990B-4252149B87C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9" Type="http://schemas.openxmlformats.org/officeDocument/2006/relationships/image" Target="../media/image23.png"/><Relationship Id="rId5" Type="http://schemas.openxmlformats.org/officeDocument/2006/relationships/image" Target="../media/image9.png"/><Relationship Id="rId6" Type="http://schemas.openxmlformats.org/officeDocument/2006/relationships/image" Target="../media/image22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9800" y="3202334"/>
            <a:ext cx="699507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015489" y="1750814"/>
            <a:ext cx="816102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Anti Theft Locker System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09800" y="2516534"/>
            <a:ext cx="777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Project Synopsis | Department of ECE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21672" y="322064"/>
            <a:ext cx="1148506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209800" y="5288309"/>
            <a:ext cx="777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Section: 225UK | University: Lovely Professional University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209800" y="5735984"/>
            <a:ext cx="777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Faculty Guide: Ms. Neha Kapila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209800" y="6183659"/>
            <a:ext cx="777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Date: 6 May 2026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209800" y="3497609"/>
            <a:ext cx="340221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Dipanshu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Reg: 12505051 | Roll: 39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209800" y="4250084"/>
            <a:ext cx="340221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Atul Kumar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Reg: 12505051 | Roll: 50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802510" y="3497609"/>
            <a:ext cx="340235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Kunal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Reg: 12505051 | Roll: 64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5802510" y="4250084"/>
            <a:ext cx="340235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Rahul Yadav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Reg: 12505051 | Roll: 45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29146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Introduction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52500" y="336232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Objectives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38100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 Methodology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52500" y="425767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 Hardware &amp; Software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52500" y="47053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5. Results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715125" y="29146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6. Conclusion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715125" y="336232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7. Future Work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715125" y="38100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8. References</a:t>
            </a:r>
            <a:endParaRPr/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43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909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385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86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339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943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3909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83857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571500" y="66675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00E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28937"/>
            <a:ext cx="5286375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928937"/>
            <a:ext cx="5286375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04875" y="3214687"/>
            <a:ext cx="49006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Problem Overview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04875" y="3490912"/>
            <a:ext cx="46672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Traditional lockers rely on mechanical locks or basic PINs that are passive. They lack real-time monitoring and cannot protect assets once the primary defense is compromised by an intruder.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667500" y="3214687"/>
            <a:ext cx="49006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Project Importance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667500" y="3490912"/>
            <a:ext cx="46672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Integrating IoT with active defense (secret compartments) allows lockers to transform into smart security devices that provide real-time alerts and secondary failsafe mechanisms during theft attempts.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71500" y="66675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00E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1914525" y="3367075"/>
            <a:ext cx="37857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AI</a:t>
            </a:r>
            <a:r>
              <a:rPr b="1" lang="en-US" sz="105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334125" y="26860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Primary Project Aim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715125" y="31146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develop a secure smart locker using ESP32 that detection intrusions via vibration sensors.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715125" y="38671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implement a real-time IoT alert mechanism via Telegram/WhatsApp for immediate owner notification.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715125" y="461962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automate 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hidden trapdoor mechanism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that physically secures valuables upon detecting unauthorized access.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143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8957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648200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571500" y="66675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OBJECTIVES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00E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222408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Working Principle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52500" y="265271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Input: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User enters password via 4x4 Keypad.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52500" y="31003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Validation: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ESP32 checks against stored PIN.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52500" y="3548062"/>
            <a:ext cx="4905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3-Strike Rule: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3 incorrect attempts trigger localized buzzer, LED, and remote alerts.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52500" y="43005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Intrusion: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Vibration detection triggers the trapdoor servo, relocating assets.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52500" y="50530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Connectivity: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Logs and status are synced to Firebase/React dashboard.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571500" y="66675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METHODOLOGY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00E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7" title="Screenshot 2026-05-07 at 1.41.22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5765" y="2129876"/>
            <a:ext cx="5737084" cy="344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2" name="Google Shape;172;p18"/>
          <p:cNvGraphicFramePr/>
          <p:nvPr/>
        </p:nvGraphicFramePr>
        <p:xfrm>
          <a:off x="571500" y="22383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{BEEB103B-D0E1-4A98-990B-4252149B87CB}</a:tableStyleId>
              </a:tblPr>
              <a:tblGrid>
                <a:gridCol w="2301175"/>
                <a:gridCol w="3418275"/>
                <a:gridCol w="5329525"/>
              </a:tblGrid>
              <a:tr h="5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Component / Tool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Specifications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5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Microcontroller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ESP32-WROOM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Integrated WiFi + Bluetooth (BLE)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Sensor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SW-420 Vibration Sensor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Detects physical shocks and tampering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Actuators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SG90 Servo Motors (x2)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Main door control and Trapdoor relocation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Software IDE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Arduino IDE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Firmware development in C++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Web Stack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React &amp; Firebase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Dashboard UI and Real-time database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" name="Google Shape;173;p18"/>
          <p:cNvSpPr/>
          <p:nvPr/>
        </p:nvSpPr>
        <p:spPr>
          <a:xfrm>
            <a:off x="571500" y="3414712"/>
            <a:ext cx="2301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2872680" y="3414712"/>
            <a:ext cx="34182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6290964" y="3414712"/>
            <a:ext cx="53295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571500" y="4014787"/>
            <a:ext cx="2301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2872680" y="4014787"/>
            <a:ext cx="34182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6290964" y="4014787"/>
            <a:ext cx="53295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571500" y="4614862"/>
            <a:ext cx="2301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2872680" y="4614862"/>
            <a:ext cx="34182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6290964" y="4614862"/>
            <a:ext cx="53295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571500" y="5214937"/>
            <a:ext cx="2301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2872680" y="5214937"/>
            <a:ext cx="34182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6290964" y="5214937"/>
            <a:ext cx="53295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571500" y="5815012"/>
            <a:ext cx="2301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2872680" y="5815012"/>
            <a:ext cx="34182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6290964" y="5815012"/>
            <a:ext cx="53295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571500" y="66675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HARDWARE &amp; SOFTWARE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00E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571500" y="4983509"/>
            <a:ext cx="52863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Fig 7.1: Prototype Circuit Assembly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334125" y="2697509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System Performance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334125" y="2973734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system demonstrated 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response time of less than 1.5 seconds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 IoT alerts after the 3rd failed attempt. The vibration sensor effectively distinguished between ambient noise and intentional impacts during testing.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334125" y="4335809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Asset isolation via the trapdoor servo was successful in 100% of the simulated breach scenarios.</a:t>
            </a:r>
            <a:endParaRPr/>
          </a:p>
        </p:txBody>
      </p:sp>
      <p:pic>
        <p:nvPicPr>
          <p:cNvPr descr="image.png" id="200" name="Google Shape;2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97509"/>
            <a:ext cx="528637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571500" y="66675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RESULTS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00E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295275" y="1908869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2286000" y="3337619"/>
            <a:ext cx="7620000" cy="23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Anti-Theft Smart Locker System successfully integrates </a:t>
            </a:r>
            <a:r>
              <a:rPr b="1" i="0" lang="en-US" sz="21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IoT </a:t>
            </a:r>
            <a:r>
              <a:rPr b="0" i="0" lang="en-US" sz="21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and embedded logic to provide an </a:t>
            </a:r>
            <a:r>
              <a:rPr b="1" i="0" lang="en-US" sz="21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active defense solution</a:t>
            </a:r>
            <a:r>
              <a:rPr b="0" i="0" lang="en-US" sz="21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It offers a low-cost, reliable, and scalable approach to personal security that outperforms </a:t>
            </a:r>
            <a:r>
              <a:rPr b="1" i="0" lang="en-US" sz="21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traditional passive locking mechanisms</a:t>
            </a:r>
            <a:r>
              <a:rPr b="0" i="0" lang="en-US" sz="21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952500" y="320992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Biometric Authentication: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Integrating fingerprint or facial recognition for secondary verification.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952500" y="36576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Power Resilience: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Implementing a high-capacity battery backup for uninterrupted operation during power failures.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952500" y="410527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Visual Logging: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Using ESP32-CAM to capture and transmit images of the intruder.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952500" y="455295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Fleet Management: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Scaling the dashboard to manage multiple lockers in bank or hostel environments.</a:t>
            </a:r>
            <a:endParaRPr/>
          </a:p>
        </p:txBody>
      </p:sp>
      <p:pic>
        <p:nvPicPr>
          <p:cNvPr descr="image.png" id="221" name="Google Shape;2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385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861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338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81525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571500" y="66675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FUTURE WORK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00E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5562"/>
            <a:ext cx="3492549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95562"/>
            <a:ext cx="3492549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95562"/>
            <a:ext cx="3492549" cy="28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744218" y="3443287"/>
            <a:ext cx="31471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Books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819150" y="3719512"/>
            <a:ext cx="29972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Espressif Systems,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ESP32 Technical Reference Manual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v4.1.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4522518" y="3443287"/>
            <a:ext cx="31471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Websites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4597449" y="3719512"/>
            <a:ext cx="29972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Arduino.cc - Documentation &amp; Keypad Library Reference.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4597449" y="4471987"/>
            <a:ext cx="29972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Firebase.google.com - Realtime Database Guides.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8300817" y="3443287"/>
            <a:ext cx="31471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Research Papers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8375749" y="3719512"/>
            <a:ext cx="29972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IEEE: "IoT Based Smart Security and Home Automation System" (2018).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8375749" y="4471987"/>
            <a:ext cx="29972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IRJET: "Smart Door Lock System Using Arduino and IoT" (2020).</a:t>
            </a:r>
            <a:endParaRPr/>
          </a:p>
        </p:txBody>
      </p:sp>
      <p:pic>
        <p:nvPicPr>
          <p:cNvPr descr="image.png" id="244" name="Google Shape;24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1012" y="28813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28813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31424" y="288131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571500" y="66675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00E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295275" y="1399282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E3FD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571500" y="3018532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Questions &amp; Discussion</a:t>
            </a:r>
            <a:endParaRPr/>
          </a:p>
        </p:txBody>
      </p:sp>
      <p:pic>
        <p:nvPicPr>
          <p:cNvPr descr="image.png" id="257" name="Google Shape;2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1672" y="4125217"/>
            <a:ext cx="1148506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571500" y="286136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571500" y="364614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571500" y="36366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571500" y="36366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571500" y="44213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571500" y="44213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0" name="Google Shape;27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107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1666875" y="300424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https://upload.wikimedia.org/wikipedia/en/3/3a/Lovely_Professional_University_logo.png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1666875" y="324995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en.wikipedia.org</a:t>
            </a:r>
            <a:endParaRPr/>
          </a:p>
        </p:txBody>
      </p:sp>
      <p:pic>
        <p:nvPicPr>
          <p:cNvPr descr="image.png" id="273" name="Google Shape;27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9556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1666875" y="378901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x-raw-image:///694766fbd3ebf94482e6262cd07409b068a467f9eff761f9093fe77570887177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1666875" y="403473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hindustanuniv.ac.in</a:t>
            </a:r>
            <a:endParaRPr/>
          </a:p>
        </p:txBody>
      </p:sp>
      <p:pic>
        <p:nvPicPr>
          <p:cNvPr descr="image.png" id="276" name="Google Shape;27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803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1666875" y="457378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https://cdn.pcbonline.com/blog/esp32-smart-door-lock.webp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1666875" y="481950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www.pcbonline.com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571500" y="66675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80" name="Google Shape;280;p24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00E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